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316" r:id="rId5"/>
    <p:sldId id="315" r:id="rId6"/>
    <p:sldId id="312" r:id="rId7"/>
    <p:sldId id="314" r:id="rId8"/>
    <p:sldId id="313" r:id="rId9"/>
    <p:sldId id="262" r:id="rId10"/>
    <p:sldId id="266" r:id="rId11"/>
    <p:sldId id="267" r:id="rId12"/>
    <p:sldId id="268" r:id="rId13"/>
    <p:sldId id="269" r:id="rId14"/>
    <p:sldId id="317" r:id="rId15"/>
    <p:sldId id="318" r:id="rId16"/>
    <p:sldId id="319" r:id="rId17"/>
    <p:sldId id="32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18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52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91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868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06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3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1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34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1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19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A43B1-5FB1-4482-9777-8D0D7605E890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20303-911B-4D23-92F6-853CE429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UK5mHvy0Bw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changkim88/sta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Colab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err="1" smtClean="0"/>
              <a:t>김창훈박사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481006" y="1760591"/>
            <a:ext cx="3229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 smtClean="0"/>
              <a:t>Google </a:t>
            </a:r>
            <a:r>
              <a:rPr lang="en-US" altLang="ko-KR" sz="2400" dirty="0" err="1" smtClean="0"/>
              <a:t>Colaboratory</a:t>
            </a:r>
            <a:r>
              <a:rPr lang="en-US" altLang="ko-KR" sz="2400" dirty="0" smtClean="0"/>
              <a:t>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1011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Colab </a:t>
            </a:r>
            <a:r>
              <a:rPr lang="ko-KR" altLang="en-US" sz="2400" dirty="0" smtClean="0"/>
              <a:t>시작</a:t>
            </a:r>
            <a:r>
              <a:rPr lang="en-US" altLang="ko-KR" sz="2400" dirty="0" smtClean="0"/>
              <a:t>! </a:t>
            </a:r>
            <a:endParaRPr lang="ko-KR" altLang="en-US" sz="2400" dirty="0"/>
          </a:p>
        </p:txBody>
      </p:sp>
      <p:grpSp>
        <p:nvGrpSpPr>
          <p:cNvPr id="5" name="그룹 4"/>
          <p:cNvGrpSpPr/>
          <p:nvPr/>
        </p:nvGrpSpPr>
        <p:grpSpPr>
          <a:xfrm>
            <a:off x="993729" y="2948220"/>
            <a:ext cx="8751513" cy="3559063"/>
            <a:chOff x="734938" y="1404091"/>
            <a:chExt cx="8751513" cy="355906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4938" y="1404091"/>
              <a:ext cx="8751513" cy="3559063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734938" y="3856005"/>
              <a:ext cx="3310851" cy="44857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직사각형 5"/>
          <p:cNvSpPr/>
          <p:nvPr/>
        </p:nvSpPr>
        <p:spPr>
          <a:xfrm>
            <a:off x="898585" y="964900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Cloud</a:t>
            </a:r>
            <a:r>
              <a:rPr lang="ko-KR" altLang="en-US" dirty="0" smtClean="0"/>
              <a:t> 기반 </a:t>
            </a:r>
            <a:r>
              <a:rPr lang="en-US" altLang="ko-KR" dirty="0" err="1" smtClean="0"/>
              <a:t>Jupyter</a:t>
            </a:r>
            <a:r>
              <a:rPr lang="en-US" altLang="ko-KR" dirty="0" smtClean="0"/>
              <a:t> Notebook </a:t>
            </a:r>
            <a:r>
              <a:rPr lang="ko-KR" altLang="en-US" dirty="0" smtClean="0"/>
              <a:t>개발환경 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Colab</a:t>
            </a:r>
            <a:r>
              <a:rPr lang="ko-KR" altLang="en-US" dirty="0" smtClean="0"/>
              <a:t>을 통하여 사용자가 </a:t>
            </a:r>
            <a:r>
              <a:rPr lang="en-US" altLang="ko-KR" dirty="0" smtClean="0"/>
              <a:t>GPU, TPU</a:t>
            </a:r>
            <a:r>
              <a:rPr lang="ko-KR" altLang="en-US" dirty="0" smtClean="0"/>
              <a:t>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사람이 개입하는 </a:t>
            </a:r>
            <a:r>
              <a:rPr lang="ko-KR" altLang="en-US" dirty="0" err="1" smtClean="0"/>
              <a:t>머신러닝</a:t>
            </a:r>
            <a:r>
              <a:rPr lang="en-US" altLang="ko-KR" dirty="0" smtClean="0"/>
              <a:t>, AI</a:t>
            </a:r>
            <a:r>
              <a:rPr lang="ko-KR" altLang="en-US" dirty="0" smtClean="0"/>
              <a:t>가 스스로 판단하는 </a:t>
            </a:r>
            <a:r>
              <a:rPr lang="ko-KR" altLang="en-US" dirty="0" err="1" smtClean="0"/>
              <a:t>딥러닝</a:t>
            </a:r>
            <a:r>
              <a:rPr lang="ko-KR" altLang="en-US" dirty="0" smtClean="0"/>
              <a:t> 등에 사용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Google </a:t>
            </a:r>
            <a:r>
              <a:rPr lang="en-US" altLang="ko-KR" dirty="0" err="1" smtClean="0"/>
              <a:t>Colaboratory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줄임말</a:t>
            </a:r>
            <a:endParaRPr lang="en-US" altLang="ko-KR" dirty="0" smtClean="0"/>
          </a:p>
          <a:p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구글에서</a:t>
            </a:r>
            <a:r>
              <a:rPr lang="en-US" altLang="ko-KR" dirty="0" smtClean="0"/>
              <a:t> </a:t>
            </a:r>
            <a:r>
              <a:rPr lang="en-US" altLang="ko-KR" dirty="0"/>
              <a:t>colab </a:t>
            </a:r>
            <a:r>
              <a:rPr lang="ko-KR" altLang="en-US" dirty="0"/>
              <a:t>검색하고</a:t>
            </a:r>
            <a:r>
              <a:rPr lang="en-US" altLang="ko-KR" dirty="0"/>
              <a:t>, ‘Colab </a:t>
            </a:r>
            <a:r>
              <a:rPr lang="ko-KR" altLang="en-US" dirty="0"/>
              <a:t>시작하기</a:t>
            </a:r>
            <a:r>
              <a:rPr lang="en-US" altLang="ko-KR" dirty="0"/>
              <a:t>’</a:t>
            </a:r>
            <a:r>
              <a:rPr lang="ko-KR" altLang="en-US" dirty="0"/>
              <a:t> 를 선택</a:t>
            </a:r>
            <a:r>
              <a:rPr lang="en-US" altLang="ko-KR" dirty="0" smtClean="0"/>
              <a:t>!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466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Colab </a:t>
            </a:r>
            <a:r>
              <a:rPr lang="ko-KR" altLang="en-US" sz="2400" dirty="0" smtClean="0"/>
              <a:t>사용은 인터넷을 기반으로 한다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구글 계정이 필요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73" y="1644271"/>
            <a:ext cx="8677275" cy="32861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821698" y="6160062"/>
            <a:ext cx="3862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참조</a:t>
            </a:r>
            <a:r>
              <a:rPr lang="en-US" altLang="ko-KR" dirty="0" smtClean="0"/>
              <a:t>: </a:t>
            </a:r>
            <a:r>
              <a:rPr lang="ko-KR" altLang="en-US" dirty="0" smtClean="0"/>
              <a:t>https://wscode.tistory.com/30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22162" y="1786857"/>
            <a:ext cx="2044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TPU </a:t>
            </a:r>
            <a:r>
              <a:rPr lang="ko-KR" altLang="en-US" dirty="0" smtClean="0"/>
              <a:t>등을 지원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98585" y="964900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사용자는 구글 계정이 필요</a:t>
            </a:r>
            <a:r>
              <a:rPr lang="en-US" altLang="ko-KR" dirty="0" smtClean="0"/>
              <a:t>!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945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컴퓨터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err="1" smtClean="0"/>
              <a:t>김창훈박사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145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컴퓨터 구조 </a:t>
            </a:r>
            <a:r>
              <a:rPr lang="en-US" altLang="ko-KR" sz="2400" dirty="0" smtClean="0"/>
              <a:t>: Von Neumann </a:t>
            </a:r>
            <a:r>
              <a:rPr lang="ko-KR" altLang="en-US" sz="2400" dirty="0" smtClean="0"/>
              <a:t>아키텍처</a:t>
            </a:r>
            <a:endParaRPr lang="ko-KR" altLang="en-US" sz="2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90" y="802258"/>
            <a:ext cx="9668899" cy="16494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02" y="1916503"/>
            <a:ext cx="4431224" cy="28193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355" y="4724045"/>
            <a:ext cx="7144248" cy="209945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22902" y="2147979"/>
            <a:ext cx="349326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0000FF"/>
                </a:solidFill>
              </a:rPr>
              <a:t>레지스터는 일종의 메모리이다</a:t>
            </a:r>
            <a:r>
              <a:rPr lang="en-US" altLang="ko-KR" sz="1400" dirty="0" smtClean="0">
                <a:solidFill>
                  <a:srgbClr val="0000FF"/>
                </a:solidFill>
              </a:rPr>
              <a:t>.</a:t>
            </a:r>
          </a:p>
          <a:p>
            <a:endParaRPr lang="en-US" altLang="ko-KR" sz="1400" dirty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명령어 레지스터 </a:t>
            </a:r>
            <a:r>
              <a:rPr lang="en-US" altLang="ko-KR" sz="1400" dirty="0" smtClean="0">
                <a:solidFill>
                  <a:srgbClr val="0000FF"/>
                </a:solidFill>
              </a:rPr>
              <a:t>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프로그램 카운터 </a:t>
            </a:r>
            <a:r>
              <a:rPr lang="en-US" altLang="ko-KR" sz="1400" dirty="0" smtClean="0">
                <a:solidFill>
                  <a:srgbClr val="0000FF"/>
                </a:solidFill>
              </a:rPr>
              <a:t>PC</a:t>
            </a:r>
            <a:br>
              <a:rPr lang="en-US" altLang="ko-KR" sz="1400" dirty="0" smtClean="0">
                <a:solidFill>
                  <a:srgbClr val="0000FF"/>
                </a:solidFill>
              </a:rPr>
            </a:br>
            <a:r>
              <a:rPr lang="en-US" altLang="ko-KR" sz="1400" dirty="0" smtClean="0">
                <a:solidFill>
                  <a:srgbClr val="0000FF"/>
                </a:solidFill>
              </a:rPr>
              <a:t>: </a:t>
            </a:r>
            <a:r>
              <a:rPr lang="ko-KR" altLang="en-US" sz="1400" dirty="0" smtClean="0">
                <a:solidFill>
                  <a:srgbClr val="0000FF"/>
                </a:solidFill>
              </a:rPr>
              <a:t>현재 명령어 </a:t>
            </a:r>
            <a:r>
              <a:rPr lang="en-US" altLang="ko-KR" sz="1400" dirty="0" smtClean="0">
                <a:solidFill>
                  <a:srgbClr val="0000FF"/>
                </a:solidFill>
              </a:rPr>
              <a:t>CIR</a:t>
            </a:r>
            <a:r>
              <a:rPr lang="ko-KR" altLang="en-US" sz="1400" dirty="0" smtClean="0">
                <a:solidFill>
                  <a:srgbClr val="0000FF"/>
                </a:solidFill>
              </a:rPr>
              <a:t>와 다음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ko-KR" altLang="en-US" sz="1400" dirty="0" smtClean="0">
                <a:solidFill>
                  <a:srgbClr val="0000FF"/>
                </a:solidFill>
              </a:rPr>
              <a:t>명령어 주소</a:t>
            </a:r>
            <a:endParaRPr lang="en-US" altLang="ko-KR" sz="1400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solidFill>
                  <a:srgbClr val="0000FF"/>
                </a:solidFill>
              </a:rPr>
              <a:t>누산기</a:t>
            </a:r>
            <a:r>
              <a:rPr lang="en-US" altLang="ko-KR" sz="1400" dirty="0" smtClean="0">
                <a:solidFill>
                  <a:srgbClr val="0000FF"/>
                </a:solidFill>
              </a:rPr>
              <a:t> </a:t>
            </a:r>
            <a:r>
              <a:rPr lang="ko-KR" altLang="en-US" sz="1400" dirty="0" smtClean="0">
                <a:solidFill>
                  <a:srgbClr val="0000FF"/>
                </a:solidFill>
              </a:rPr>
              <a:t>레지스터</a:t>
            </a:r>
            <a:r>
              <a:rPr lang="en-US" altLang="ko-KR" sz="1400" dirty="0" smtClean="0">
                <a:solidFill>
                  <a:srgbClr val="0000FF"/>
                </a:solidFill>
              </a:rPr>
              <a:t> AC </a:t>
            </a:r>
            <a:br>
              <a:rPr lang="en-US" altLang="ko-KR" sz="1400" dirty="0" smtClean="0">
                <a:solidFill>
                  <a:srgbClr val="0000FF"/>
                </a:solidFill>
              </a:rPr>
            </a:br>
            <a:r>
              <a:rPr lang="en-US" altLang="ko-KR" sz="1400" dirty="0" smtClean="0">
                <a:solidFill>
                  <a:srgbClr val="0000FF"/>
                </a:solidFill>
              </a:rPr>
              <a:t>: </a:t>
            </a:r>
            <a:r>
              <a:rPr lang="ko-KR" altLang="en-US" sz="1400" dirty="0" smtClean="0">
                <a:solidFill>
                  <a:srgbClr val="0000FF"/>
                </a:solidFill>
              </a:rPr>
              <a:t>데이터 저장</a:t>
            </a:r>
            <a:endParaRPr lang="en-US" altLang="ko-KR" sz="1400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데이터 레지스터 </a:t>
            </a:r>
            <a:r>
              <a:rPr lang="en-US" altLang="ko-KR" sz="1400" dirty="0" smtClean="0">
                <a:solidFill>
                  <a:srgbClr val="0000FF"/>
                </a:solidFill>
              </a:rPr>
              <a:t>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메모리 주소 레지스터 </a:t>
            </a:r>
            <a:r>
              <a:rPr lang="en-US" altLang="ko-KR" sz="1400" dirty="0" smtClean="0">
                <a:solidFill>
                  <a:srgbClr val="0000FF"/>
                </a:solidFill>
              </a:rPr>
              <a:t>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프로그램 레지스터 </a:t>
            </a:r>
            <a:r>
              <a:rPr lang="en-US" altLang="ko-KR" sz="1400" dirty="0" smtClean="0">
                <a:solidFill>
                  <a:srgbClr val="0000FF"/>
                </a:solidFill>
              </a:rPr>
              <a:t>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rgbClr val="0000FF"/>
                </a:solidFill>
              </a:rPr>
              <a:t>메모리 데이터 레지스터 </a:t>
            </a:r>
            <a:r>
              <a:rPr lang="en-US" altLang="ko-KR" sz="1400" dirty="0" smtClean="0">
                <a:solidFill>
                  <a:srgbClr val="0000FF"/>
                </a:solidFill>
              </a:rPr>
              <a:t>MDR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0608" y="6561886"/>
            <a:ext cx="238879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 smtClean="0"/>
              <a:t>https://brunch.co.kr/@daehyub/74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2232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컴퓨터 </a:t>
            </a:r>
            <a:r>
              <a:rPr lang="en-US" altLang="ko-KR" sz="2400" dirty="0" smtClean="0"/>
              <a:t>Computer </a:t>
            </a:r>
            <a:r>
              <a:rPr lang="ko-KR" altLang="en-US" sz="2400" dirty="0" smtClean="0"/>
              <a:t>구조</a:t>
            </a:r>
            <a:endParaRPr lang="ko-KR" altLang="en-US" sz="2400" dirty="0"/>
          </a:p>
        </p:txBody>
      </p:sp>
      <p:sp>
        <p:nvSpPr>
          <p:cNvPr id="3" name="직사각형 2"/>
          <p:cNvSpPr/>
          <p:nvPr/>
        </p:nvSpPr>
        <p:spPr>
          <a:xfrm>
            <a:off x="7397920" y="6298085"/>
            <a:ext cx="34811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참고</a:t>
            </a:r>
            <a:r>
              <a:rPr lang="en-US" altLang="ko-KR" sz="1400" dirty="0" smtClean="0"/>
              <a:t>: https://stementor.tistory.com/entry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1161690" y="4820757"/>
            <a:ext cx="9868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ko-KR" dirty="0">
                <a:latin typeface="Arial Unicode MS" panose="020B0604020202020204" pitchFamily="50" charset="-127"/>
              </a:rPr>
              <a:t>(1). </a:t>
            </a:r>
            <a:r>
              <a:rPr lang="ko-KR" altLang="ko-KR" dirty="0" err="1">
                <a:latin typeface="Arial Unicode MS" panose="020B0604020202020204" pitchFamily="50" charset="-127"/>
              </a:rPr>
              <a:t>CPU는</a:t>
            </a:r>
            <a:r>
              <a:rPr lang="ko-KR" altLang="ko-KR" dirty="0">
                <a:latin typeface="Arial Unicode MS" panose="020B0604020202020204" pitchFamily="50" charset="-127"/>
              </a:rPr>
              <a:t> 메모리에서 명령을 순서대로 읽어옵니다. </a:t>
            </a:r>
            <a:r>
              <a:rPr lang="ko-KR" altLang="ko-KR" dirty="0" smtClean="0">
                <a:latin typeface="Arial Unicode MS" panose="020B0604020202020204" pitchFamily="50" charset="-127"/>
              </a:rPr>
              <a:t>명령들은 </a:t>
            </a:r>
            <a:r>
              <a:rPr lang="ko-KR" altLang="ko-KR" dirty="0">
                <a:latin typeface="Arial Unicode MS" panose="020B0604020202020204" pitchFamily="50" charset="-127"/>
              </a:rPr>
              <a:t>메모리의 어떤 값을 불러와야 하는지, 값을 어떻게 계산해야 하는지, 어떤 값을 메모리에 다시 저장해야 하는지 등 </a:t>
            </a:r>
            <a:r>
              <a:rPr lang="ko-KR" altLang="ko-KR" dirty="0" err="1">
                <a:latin typeface="Arial Unicode MS" panose="020B0604020202020204" pitchFamily="50" charset="-127"/>
              </a:rPr>
              <a:t>CPU가</a:t>
            </a:r>
            <a:r>
              <a:rPr lang="ko-KR" altLang="ko-KR" dirty="0">
                <a:latin typeface="Arial Unicode MS" panose="020B0604020202020204" pitchFamily="50" charset="-127"/>
              </a:rPr>
              <a:t> 해야 하는 모든 일을 명시해 줍니다 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/>
            <a:endParaRPr lang="en-US" altLang="ko-KR" dirty="0">
              <a:latin typeface="Arial Unicode MS" panose="020B0604020202020204" pitchFamily="50" charset="-127"/>
            </a:endParaRPr>
          </a:p>
          <a:p>
            <a:pPr lvl="0"/>
            <a:r>
              <a:rPr lang="ko-KR" altLang="ko-KR" dirty="0" smtClean="0">
                <a:latin typeface="Arial Unicode MS" panose="020B0604020202020204" pitchFamily="50" charset="-127"/>
              </a:rPr>
              <a:t>(</a:t>
            </a:r>
            <a:r>
              <a:rPr lang="ko-KR" altLang="ko-KR" dirty="0">
                <a:latin typeface="Arial Unicode MS" panose="020B0604020202020204" pitchFamily="50" charset="-127"/>
              </a:rPr>
              <a:t>2). 계산이 끝난 이후 메모리에 저장된 값은 (3) 다시 입출력 장치를 통해 출력됩니다 (4</a:t>
            </a:r>
            <a:r>
              <a:rPr lang="ko-KR" altLang="ko-KR" dirty="0" smtClean="0">
                <a:latin typeface="Arial Unicode MS" panose="020B0604020202020204" pitchFamily="50" charset="-127"/>
              </a:rPr>
              <a:t>)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82" y="1049907"/>
            <a:ext cx="52387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9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중앙처리장치 </a:t>
            </a:r>
            <a:r>
              <a:rPr lang="en-US" altLang="ko-KR" sz="2400" dirty="0" smtClean="0"/>
              <a:t>CPU </a:t>
            </a:r>
            <a:r>
              <a:rPr lang="ko-KR" altLang="en-US" sz="2400" dirty="0" smtClean="0"/>
              <a:t>는 </a:t>
            </a:r>
            <a:r>
              <a:rPr lang="en-US" altLang="ko-KR" sz="2400" dirty="0" smtClean="0"/>
              <a:t>0 </a:t>
            </a:r>
            <a:r>
              <a:rPr lang="ko-KR" altLang="en-US" sz="2400" dirty="0" smtClean="0"/>
              <a:t>과 </a:t>
            </a:r>
            <a:r>
              <a:rPr lang="en-US" altLang="ko-KR" sz="2400" dirty="0" smtClean="0"/>
              <a:t>1 </a:t>
            </a:r>
            <a:r>
              <a:rPr lang="ko-KR" altLang="en-US" sz="2400" dirty="0" smtClean="0"/>
              <a:t>로 이루어진 신호를 인식해 받아 들인다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3" name="직사각형 2"/>
          <p:cNvSpPr/>
          <p:nvPr/>
        </p:nvSpPr>
        <p:spPr>
          <a:xfrm>
            <a:off x="7397920" y="6298085"/>
            <a:ext cx="34811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참고</a:t>
            </a:r>
            <a:r>
              <a:rPr lang="en-US" altLang="ko-KR" sz="1400" dirty="0" smtClean="0"/>
              <a:t>: https://stementor.tistory.com/entry</a:t>
            </a:r>
            <a:endParaRPr lang="ko-KR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5305245" y="1747585"/>
            <a:ext cx="67372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 err="1">
                <a:latin typeface="Arial Unicode MS" panose="020B0604020202020204" pitchFamily="50" charset="-127"/>
              </a:rPr>
              <a:t>CPU는</a:t>
            </a:r>
            <a:r>
              <a:rPr lang="ko-KR" altLang="ko-KR" dirty="0">
                <a:latin typeface="Arial Unicode MS" panose="020B0604020202020204" pitchFamily="50" charset="-127"/>
              </a:rPr>
              <a:t> 메모리의 특정 위치에 저장되어 있는 </a:t>
            </a:r>
            <a:r>
              <a:rPr lang="ko-KR" altLang="ko-KR" b="1" dirty="0" smtClean="0">
                <a:latin typeface="Arial Unicode MS" panose="020B0604020202020204" pitchFamily="50" charset="-127"/>
              </a:rPr>
              <a:t>명령</a:t>
            </a:r>
            <a:r>
              <a:rPr lang="en-US" altLang="ko-KR" b="1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 smtClean="0">
                <a:latin typeface="Arial Unicode MS" panose="020B0604020202020204" pitchFamily="50" charset="-127"/>
              </a:rPr>
              <a:t>(</a:t>
            </a:r>
            <a:r>
              <a:rPr lang="en-US" altLang="ko-KR" dirty="0" err="1" smtClean="0">
                <a:latin typeface="Arial Unicode MS" panose="020B0604020202020204" pitchFamily="50" charset="-127"/>
              </a:rPr>
              <a:t>i</a:t>
            </a:r>
            <a:r>
              <a:rPr lang="ko-KR" altLang="ko-KR" dirty="0" err="1" smtClean="0">
                <a:latin typeface="Arial Unicode MS" panose="020B0604020202020204" pitchFamily="50" charset="-127"/>
              </a:rPr>
              <a:t>nstruction</a:t>
            </a:r>
            <a:r>
              <a:rPr lang="ko-KR" altLang="ko-KR" dirty="0">
                <a:latin typeface="Arial Unicode MS" panose="020B0604020202020204" pitchFamily="50" charset="-127"/>
              </a:rPr>
              <a:t>)들을 순서대로 불러와 처리합니다. 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 err="1" smtClean="0">
                <a:latin typeface="Arial Unicode MS" panose="020B0604020202020204" pitchFamily="50" charset="-127"/>
              </a:rPr>
              <a:t>CPU</a:t>
            </a:r>
            <a:r>
              <a:rPr lang="ko-KR" altLang="ko-KR" dirty="0" err="1">
                <a:latin typeface="Arial Unicode MS" panose="020B0604020202020204" pitchFamily="50" charset="-127"/>
              </a:rPr>
              <a:t>가</a:t>
            </a:r>
            <a:r>
              <a:rPr lang="ko-KR" altLang="ko-KR" dirty="0">
                <a:latin typeface="Arial Unicode MS" panose="020B0604020202020204" pitchFamily="50" charset="-127"/>
              </a:rPr>
              <a:t> 처리하는 명령의 몇 가지 예시를 살펴봅시다</a:t>
            </a:r>
            <a:r>
              <a:rPr lang="ko-KR" altLang="ko-KR" dirty="0" smtClean="0">
                <a:latin typeface="Arial Unicode MS" panose="020B0604020202020204" pitchFamily="50" charset="-127"/>
              </a:rPr>
              <a:t>.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 smtClean="0">
                <a:latin typeface="Arial Unicode MS" panose="020B0604020202020204" pitchFamily="50" charset="-127"/>
              </a:rPr>
              <a:t>두 </a:t>
            </a:r>
            <a:r>
              <a:rPr lang="ko-KR" altLang="ko-KR" dirty="0">
                <a:latin typeface="Arial Unicode MS" panose="020B0604020202020204" pitchFamily="50" charset="-127"/>
              </a:rPr>
              <a:t>레지스터에 저장된 값을 더해 다른 레지스터에 저장한다</a:t>
            </a:r>
            <a:r>
              <a:rPr lang="ko-KR" altLang="ko-KR" dirty="0" smtClean="0">
                <a:latin typeface="Arial Unicode MS" panose="020B0604020202020204" pitchFamily="50" charset="-127"/>
              </a:rPr>
              <a:t>.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 smtClean="0">
                <a:latin typeface="Arial Unicode MS" panose="020B0604020202020204" pitchFamily="50" charset="-127"/>
              </a:rPr>
              <a:t>한 </a:t>
            </a:r>
            <a:r>
              <a:rPr lang="ko-KR" altLang="ko-KR" dirty="0">
                <a:latin typeface="Arial Unicode MS" panose="020B0604020202020204" pitchFamily="50" charset="-127"/>
              </a:rPr>
              <a:t>레지스터가 메모리 상의 주소를 가리키고 있을 때, </a:t>
            </a:r>
            <a:r>
              <a:rPr lang="en-US" altLang="ko-KR" dirty="0" smtClean="0">
                <a:latin typeface="Arial Unicode MS" panose="020B0604020202020204" pitchFamily="50" charset="-127"/>
              </a:rPr>
              <a:t/>
            </a:r>
            <a:br>
              <a:rPr lang="en-US" altLang="ko-KR" dirty="0" smtClean="0">
                <a:latin typeface="Arial Unicode MS" panose="020B0604020202020204" pitchFamily="50" charset="-127"/>
              </a:rPr>
            </a:br>
            <a:r>
              <a:rPr lang="en-US" altLang="ko-KR" dirty="0" smtClean="0">
                <a:latin typeface="Arial Unicode MS" panose="020B0604020202020204" pitchFamily="50" charset="-127"/>
              </a:rPr>
              <a:t>  </a:t>
            </a:r>
            <a:r>
              <a:rPr lang="ko-KR" altLang="ko-KR" dirty="0" smtClean="0">
                <a:latin typeface="Arial Unicode MS" panose="020B0604020202020204" pitchFamily="50" charset="-127"/>
              </a:rPr>
              <a:t>이 </a:t>
            </a:r>
            <a:r>
              <a:rPr lang="ko-KR" altLang="ko-KR" dirty="0">
                <a:latin typeface="Arial Unicode MS" panose="020B0604020202020204" pitchFamily="50" charset="-127"/>
              </a:rPr>
              <a:t>주소에 저장된 값을 다른 레지스터로 불러온다. 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 smtClean="0">
                <a:latin typeface="Arial Unicode MS" panose="020B0604020202020204" pitchFamily="50" charset="-127"/>
              </a:rPr>
              <a:t>한 </a:t>
            </a:r>
            <a:r>
              <a:rPr lang="ko-KR" altLang="ko-KR" dirty="0">
                <a:latin typeface="Arial Unicode MS" panose="020B0604020202020204" pitchFamily="50" charset="-127"/>
              </a:rPr>
              <a:t>레지스터가 메모리 상의 주소를 가리키고 있을 때, </a:t>
            </a:r>
            <a:r>
              <a:rPr lang="en-US" altLang="ko-KR" dirty="0" smtClean="0">
                <a:latin typeface="Arial Unicode MS" panose="020B0604020202020204" pitchFamily="50" charset="-127"/>
              </a:rPr>
              <a:t/>
            </a:r>
            <a:br>
              <a:rPr lang="en-US" altLang="ko-KR" dirty="0" smtClean="0">
                <a:latin typeface="Arial Unicode MS" panose="020B0604020202020204" pitchFamily="50" charset="-127"/>
              </a:rPr>
            </a:br>
            <a:r>
              <a:rPr lang="en-US" altLang="ko-KR" dirty="0" smtClean="0">
                <a:latin typeface="Arial Unicode MS" panose="020B0604020202020204" pitchFamily="50" charset="-127"/>
              </a:rPr>
              <a:t>  </a:t>
            </a:r>
            <a:r>
              <a:rPr lang="ko-KR" altLang="ko-KR" dirty="0" smtClean="0">
                <a:latin typeface="Arial Unicode MS" panose="020B0604020202020204" pitchFamily="50" charset="-127"/>
              </a:rPr>
              <a:t>다른 </a:t>
            </a:r>
            <a:r>
              <a:rPr lang="ko-KR" altLang="ko-KR" dirty="0">
                <a:latin typeface="Arial Unicode MS" panose="020B0604020202020204" pitchFamily="50" charset="-127"/>
              </a:rPr>
              <a:t>레지스터에 저장된 값을 이 주소에 저장한다. </a:t>
            </a:r>
            <a:endParaRPr lang="en-US" altLang="ko-KR" dirty="0" smtClean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 Unicode MS" panose="020B0604020202020204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ko-KR" dirty="0" smtClean="0">
                <a:latin typeface="Arial Unicode MS" panose="020B0604020202020204" pitchFamily="50" charset="-127"/>
              </a:rPr>
              <a:t>한 </a:t>
            </a:r>
            <a:r>
              <a:rPr lang="ko-KR" altLang="ko-KR" dirty="0">
                <a:latin typeface="Arial Unicode MS" panose="020B0604020202020204" pitchFamily="50" charset="-127"/>
              </a:rPr>
              <a:t>레지스터에 적힌 값이 1이라면 다음 차례에 바로 다음 </a:t>
            </a:r>
            <a:r>
              <a:rPr lang="en-US" altLang="ko-KR" dirty="0" smtClean="0">
                <a:latin typeface="Arial Unicode MS" panose="020B0604020202020204" pitchFamily="50" charset="-127"/>
              </a:rPr>
              <a:t>    </a:t>
            </a:r>
            <a:br>
              <a:rPr lang="en-US" altLang="ko-KR" dirty="0" smtClean="0">
                <a:latin typeface="Arial Unicode MS" panose="020B0604020202020204" pitchFamily="50" charset="-127"/>
              </a:rPr>
            </a:br>
            <a:r>
              <a:rPr lang="en-US" altLang="ko-KR" dirty="0" smtClean="0">
                <a:latin typeface="Arial Unicode MS" panose="020B0604020202020204" pitchFamily="50" charset="-127"/>
              </a:rPr>
              <a:t>  </a:t>
            </a:r>
            <a:r>
              <a:rPr lang="ko-KR" altLang="ko-KR" dirty="0" smtClean="0">
                <a:latin typeface="Arial Unicode MS" panose="020B0604020202020204" pitchFamily="50" charset="-127"/>
              </a:rPr>
              <a:t>명령을 </a:t>
            </a:r>
            <a:r>
              <a:rPr lang="ko-KR" altLang="ko-KR" dirty="0">
                <a:latin typeface="Arial Unicode MS" panose="020B0604020202020204" pitchFamily="50" charset="-127"/>
              </a:rPr>
              <a:t>실행하지 말고, 명시된 다른 명령을 실행한다</a:t>
            </a:r>
            <a:r>
              <a:rPr lang="ko-KR" altLang="ko-KR" dirty="0" smtClean="0">
                <a:latin typeface="Arial Unicode MS" panose="020B0604020202020204" pitchFamily="50" charset="-127"/>
              </a:rPr>
              <a:t>.</a:t>
            </a:r>
            <a:endParaRPr lang="ko-KR" altLang="ko-KR" dirty="0">
              <a:latin typeface="Arial Unicode MS" panose="020B0604020202020204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5" y="2092641"/>
            <a:ext cx="4512479" cy="311771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161690" y="1129324"/>
            <a:ext cx="9276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레지스터</a:t>
            </a:r>
            <a:r>
              <a:rPr lang="en-US" altLang="ko-KR" dirty="0" smtClean="0">
                <a:solidFill>
                  <a:srgbClr val="0000FF"/>
                </a:solidFill>
              </a:rPr>
              <a:t>(Register) : CPU</a:t>
            </a:r>
            <a:r>
              <a:rPr lang="ko-KR" altLang="en-US" dirty="0">
                <a:solidFill>
                  <a:srgbClr val="0000FF"/>
                </a:solidFill>
              </a:rPr>
              <a:t>가 연산을 수행하기 위해 사용하는 임시 저장 장치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임시 저장소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77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CPU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GPU </a:t>
            </a:r>
            <a:r>
              <a:rPr lang="ko-KR" altLang="en-US" sz="2400" dirty="0" smtClean="0"/>
              <a:t>구조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81" y="1634795"/>
            <a:ext cx="6796285" cy="371358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397920" y="6298085"/>
            <a:ext cx="32097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참고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https://wooono.tistory.com/325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1615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ALU 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CPU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87" y="1395412"/>
            <a:ext cx="59912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GPU </a:t>
            </a:r>
            <a:r>
              <a:rPr lang="ko-KR" altLang="en-US" sz="2400" dirty="0" smtClean="0"/>
              <a:t>와 </a:t>
            </a:r>
            <a:r>
              <a:rPr lang="en-US" altLang="ko-KR" sz="2400" dirty="0" smtClean="0"/>
              <a:t>TPU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2" y="1281112"/>
            <a:ext cx="72675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59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endParaRPr lang="ko-KR" altLang="en-US" sz="24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81" y="1634795"/>
            <a:ext cx="6796285" cy="371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83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Memory</a:t>
            </a:r>
            <a:r>
              <a:rPr lang="ko-KR" altLang="en-US" sz="2400" dirty="0" smtClean="0"/>
              <a:t> 메모리</a:t>
            </a:r>
            <a:endParaRPr lang="ko-KR" altLang="en-US" sz="2400" dirty="0"/>
          </a:p>
        </p:txBody>
      </p:sp>
      <p:sp>
        <p:nvSpPr>
          <p:cNvPr id="3" name="직사각형 2"/>
          <p:cNvSpPr/>
          <p:nvPr/>
        </p:nvSpPr>
        <p:spPr>
          <a:xfrm>
            <a:off x="898585" y="964900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프로그램은 메모리 상에서 돌아간다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메모리에는 주소가 각각 배정되어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주소 마다 값을 저장한다</a:t>
            </a:r>
            <a:r>
              <a:rPr lang="en-US" altLang="ko-KR" dirty="0" smtClean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 err="1" smtClean="0">
                <a:latin typeface="Arial Unicode MS" panose="020B0604020202020204" pitchFamily="50" charset="-127"/>
              </a:rPr>
              <a:t>CPU</a:t>
            </a:r>
            <a:r>
              <a:rPr lang="ko-KR" altLang="ko-KR" dirty="0" err="1">
                <a:latin typeface="Arial Unicode MS" panose="020B0604020202020204" pitchFamily="50" charset="-127"/>
              </a:rPr>
              <a:t>가</a:t>
            </a:r>
            <a:r>
              <a:rPr lang="ko-KR" altLang="ko-KR" dirty="0">
                <a:latin typeface="Arial Unicode MS" panose="020B0604020202020204" pitchFamily="50" charset="-127"/>
              </a:rPr>
              <a:t> 요청한 주소에 적힌 값을 </a:t>
            </a:r>
            <a:r>
              <a:rPr lang="ko-KR" altLang="ko-KR" dirty="0" err="1">
                <a:latin typeface="Arial Unicode MS" panose="020B0604020202020204" pitchFamily="50" charset="-127"/>
              </a:rPr>
              <a:t>CPU에게</a:t>
            </a:r>
            <a:r>
              <a:rPr lang="ko-KR" altLang="ko-KR" dirty="0">
                <a:latin typeface="Arial Unicode MS" panose="020B0604020202020204" pitchFamily="50" charset="-127"/>
              </a:rPr>
              <a:t> 알려 주거나, </a:t>
            </a:r>
            <a:r>
              <a:rPr lang="en-US" altLang="ko-KR" dirty="0" smtClean="0">
                <a:latin typeface="Arial Unicode MS" panose="020B0604020202020204" pitchFamily="50" charset="-127"/>
              </a:rPr>
              <a:t/>
            </a:r>
            <a:br>
              <a:rPr lang="en-US" altLang="ko-KR" dirty="0" smtClean="0">
                <a:latin typeface="Arial Unicode MS" panose="020B0604020202020204" pitchFamily="50" charset="-127"/>
              </a:rPr>
            </a:br>
            <a:r>
              <a:rPr lang="ko-KR" altLang="ko-KR" dirty="0" smtClean="0">
                <a:latin typeface="Arial Unicode MS" panose="020B0604020202020204" pitchFamily="50" charset="-127"/>
              </a:rPr>
              <a:t>반대로 </a:t>
            </a:r>
            <a:r>
              <a:rPr lang="ko-KR" altLang="ko-KR" dirty="0" err="1">
                <a:latin typeface="Arial Unicode MS" panose="020B0604020202020204" pitchFamily="50" charset="-127"/>
              </a:rPr>
              <a:t>CPU가</a:t>
            </a:r>
            <a:r>
              <a:rPr lang="ko-KR" altLang="ko-KR" dirty="0">
                <a:latin typeface="Arial Unicode MS" panose="020B0604020202020204" pitchFamily="50" charset="-127"/>
              </a:rPr>
              <a:t> 알려 준 주소에 새로운 값을 저장하는 역할을 </a:t>
            </a:r>
            <a:r>
              <a:rPr lang="ko-KR" altLang="ko-KR" dirty="0" smtClean="0">
                <a:latin typeface="Arial Unicode MS" panose="020B0604020202020204" pitchFamily="50" charset="-127"/>
              </a:rPr>
              <a:t>수행</a:t>
            </a:r>
            <a:r>
              <a:rPr lang="ko-KR" altLang="en-US" dirty="0" smtClean="0">
                <a:latin typeface="Arial Unicode MS" panose="020B0604020202020204" pitchFamily="50" charset="-127"/>
              </a:rPr>
              <a:t>한</a:t>
            </a:r>
            <a:r>
              <a:rPr lang="ko-KR" altLang="ko-KR" dirty="0" smtClean="0">
                <a:latin typeface="Arial Unicode MS" panose="020B0604020202020204" pitchFamily="50" charset="-127"/>
              </a:rPr>
              <a:t>다.</a:t>
            </a:r>
            <a:endParaRPr lang="en-US" altLang="ko-KR" dirty="0">
              <a:latin typeface="Arial Unicode MS" panose="020B0604020202020204" pitchFamily="50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rial Unicode MS" panose="020B0604020202020204" pitchFamily="50" charset="-127"/>
              </a:rPr>
              <a:t>여러 프로그램이 동시에 수행되면</a:t>
            </a:r>
            <a:r>
              <a:rPr lang="en-US" altLang="ko-KR" dirty="0" smtClean="0">
                <a:latin typeface="Arial Unicode MS" panose="020B0604020202020204" pitchFamily="50" charset="-127"/>
              </a:rPr>
              <a:t>, </a:t>
            </a:r>
            <a:r>
              <a:rPr lang="ko-KR" altLang="en-US" dirty="0" smtClean="0">
                <a:latin typeface="Arial Unicode MS" panose="020B0604020202020204" pitchFamily="50" charset="-127"/>
              </a:rPr>
              <a:t>메모리 배정과 갱신에 혼란이 발생한다</a:t>
            </a:r>
            <a:r>
              <a:rPr lang="en-US" altLang="ko-KR" dirty="0" smtClean="0">
                <a:latin typeface="Arial Unicode MS" panose="020B0604020202020204" pitchFamily="50" charset="-127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35" y="2661244"/>
            <a:ext cx="5124094" cy="341606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26211" y="6111656"/>
            <a:ext cx="10887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가상 메모리</a:t>
            </a:r>
            <a:r>
              <a:rPr lang="en-US" altLang="ko-KR" dirty="0"/>
              <a:t>(Virtual Memory) </a:t>
            </a:r>
            <a:r>
              <a:rPr lang="ko-KR" altLang="en-US" dirty="0" smtClean="0"/>
              <a:t>에서 </a:t>
            </a:r>
            <a:r>
              <a:rPr lang="ko-KR" altLang="ko-KR" b="1" dirty="0" smtClean="0">
                <a:solidFill>
                  <a:srgbClr val="F89009"/>
                </a:solidFill>
                <a:latin typeface="Arial Unicode MS" panose="020B0604020202020204" pitchFamily="50" charset="-127"/>
              </a:rPr>
              <a:t>주소 </a:t>
            </a:r>
            <a:r>
              <a:rPr lang="ko-KR" altLang="ko-KR" b="1" dirty="0">
                <a:solidFill>
                  <a:srgbClr val="F89009"/>
                </a:solidFill>
                <a:latin typeface="Arial Unicode MS" panose="020B0604020202020204" pitchFamily="50" charset="-127"/>
              </a:rPr>
              <a:t>변환</a:t>
            </a:r>
            <a:r>
              <a:rPr lang="ko-KR" altLang="ko-KR" dirty="0">
                <a:latin typeface="Arial Unicode MS" panose="020B0604020202020204" pitchFamily="50" charset="-127"/>
              </a:rPr>
              <a:t>(</a:t>
            </a:r>
            <a:r>
              <a:rPr lang="ko-KR" altLang="ko-KR" dirty="0" err="1">
                <a:latin typeface="Arial Unicode MS" panose="020B0604020202020204" pitchFamily="50" charset="-127"/>
              </a:rPr>
              <a:t>address</a:t>
            </a:r>
            <a:r>
              <a:rPr lang="ko-KR" altLang="ko-KR" dirty="0">
                <a:latin typeface="Arial Unicode MS" panose="020B0604020202020204" pitchFamily="50" charset="-127"/>
              </a:rPr>
              <a:t> </a:t>
            </a:r>
            <a:r>
              <a:rPr lang="ko-KR" altLang="ko-KR" dirty="0" err="1">
                <a:latin typeface="Arial Unicode MS" panose="020B0604020202020204" pitchFamily="50" charset="-127"/>
              </a:rPr>
              <a:t>translation</a:t>
            </a:r>
            <a:r>
              <a:rPr lang="ko-KR" altLang="ko-KR" dirty="0">
                <a:latin typeface="Arial Unicode MS" panose="020B0604020202020204" pitchFamily="50" charset="-127"/>
              </a:rPr>
              <a:t>) 또는 </a:t>
            </a:r>
            <a:r>
              <a:rPr lang="ko-KR" altLang="ko-KR" b="1" dirty="0">
                <a:solidFill>
                  <a:srgbClr val="F89009"/>
                </a:solidFill>
                <a:latin typeface="Arial Unicode MS" panose="020B0604020202020204" pitchFamily="50" charset="-127"/>
              </a:rPr>
              <a:t>주소 사상</a:t>
            </a:r>
            <a:r>
              <a:rPr lang="ko-KR" altLang="ko-KR" dirty="0">
                <a:latin typeface="Arial Unicode MS" panose="020B0604020202020204" pitchFamily="50" charset="-127"/>
              </a:rPr>
              <a:t>(</a:t>
            </a:r>
            <a:r>
              <a:rPr lang="ko-KR" altLang="ko-KR" dirty="0" err="1">
                <a:latin typeface="Arial Unicode MS" panose="020B0604020202020204" pitchFamily="50" charset="-127"/>
              </a:rPr>
              <a:t>address</a:t>
            </a:r>
            <a:r>
              <a:rPr lang="ko-KR" altLang="ko-KR" dirty="0">
                <a:latin typeface="Arial Unicode MS" panose="020B0604020202020204" pitchFamily="50" charset="-127"/>
              </a:rPr>
              <a:t> </a:t>
            </a:r>
            <a:r>
              <a:rPr lang="ko-KR" altLang="ko-KR" dirty="0" err="1">
                <a:latin typeface="Arial Unicode MS" panose="020B0604020202020204" pitchFamily="50" charset="-127"/>
              </a:rPr>
              <a:t>mapping</a:t>
            </a:r>
            <a:r>
              <a:rPr lang="ko-KR" altLang="ko-KR" dirty="0" smtClean="0">
                <a:latin typeface="Arial Unicode MS" panose="020B0604020202020204" pitchFamily="50" charset="-127"/>
              </a:rPr>
              <a:t>)</a:t>
            </a:r>
            <a:r>
              <a:rPr lang="en-US" altLang="ko-KR" dirty="0" smtClean="0">
                <a:latin typeface="Arial Unicode MS" panose="020B0604020202020204" pitchFamily="50" charset="-127"/>
              </a:rPr>
              <a:t> </a:t>
            </a:r>
            <a:r>
              <a:rPr lang="ko-KR" altLang="en-US" dirty="0" smtClean="0">
                <a:latin typeface="Arial Unicode MS" panose="020B0604020202020204" pitchFamily="50" charset="-127"/>
              </a:rPr>
              <a:t>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99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컴퓨터 구조 </a:t>
            </a:r>
            <a:r>
              <a:rPr lang="en-US" altLang="ko-KR" sz="2400" dirty="0" smtClean="0"/>
              <a:t>: Von Neumann </a:t>
            </a:r>
            <a:r>
              <a:rPr lang="ko-KR" altLang="en-US" sz="2400" dirty="0" smtClean="0"/>
              <a:t>아키텍처</a:t>
            </a:r>
            <a:endParaRPr lang="ko-KR" altLang="en-US" sz="2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90" y="802258"/>
            <a:ext cx="9668899" cy="16494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02" y="1916503"/>
            <a:ext cx="4431224" cy="28193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355" y="4724045"/>
            <a:ext cx="7144248" cy="209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9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Numpy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err="1" smtClean="0"/>
              <a:t>김창훈박사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00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err="1" smtClean="0"/>
              <a:t>NumPy</a:t>
            </a:r>
            <a:r>
              <a:rPr lang="ko-KR" altLang="en-US" sz="2400" dirty="0" smtClean="0"/>
              <a:t> 는 </a:t>
            </a:r>
            <a:r>
              <a:rPr lang="en-US" altLang="ko-KR" sz="2400" dirty="0" smtClean="0"/>
              <a:t>Python </a:t>
            </a:r>
            <a:r>
              <a:rPr lang="ko-KR" altLang="en-US" sz="2400" dirty="0" smtClean="0"/>
              <a:t>라이브러리 이다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62975" y="2087592"/>
            <a:ext cx="925458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/>
              <a:t>Numpy</a:t>
            </a:r>
            <a:r>
              <a:rPr lang="ko-KR" altLang="en-US" sz="2000" dirty="0" smtClean="0"/>
              <a:t>는 </a:t>
            </a:r>
            <a:r>
              <a:rPr lang="en-US" altLang="ko-KR" sz="2000" dirty="0" smtClean="0"/>
              <a:t>1995</a:t>
            </a:r>
            <a:r>
              <a:rPr lang="ko-KR" altLang="en-US" sz="2000" dirty="0" smtClean="0"/>
              <a:t>년 공개되었다</a:t>
            </a:r>
            <a:r>
              <a:rPr lang="en-US" altLang="ko-KR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/>
              <a:t>Numpy</a:t>
            </a:r>
            <a:r>
              <a:rPr lang="ko-KR" altLang="en-US" sz="2000" dirty="0" smtClean="0"/>
              <a:t>는 </a:t>
            </a:r>
            <a:r>
              <a:rPr lang="en-US" altLang="ko-KR" sz="2000" dirty="0" smtClean="0"/>
              <a:t>C</a:t>
            </a:r>
            <a:r>
              <a:rPr lang="ko-KR" altLang="en-US" sz="2000" dirty="0" smtClean="0"/>
              <a:t>로 개발된 소프트웨어</a:t>
            </a:r>
            <a:endParaRPr lang="en-US" altLang="ko-K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solidFill>
                  <a:srgbClr val="0000FF"/>
                </a:solidFill>
              </a:rPr>
              <a:t>N-dimensional arrays </a:t>
            </a:r>
            <a:r>
              <a:rPr lang="ko-KR" altLang="en-US" sz="2000" dirty="0" smtClean="0">
                <a:solidFill>
                  <a:srgbClr val="0000FF"/>
                </a:solidFill>
              </a:rPr>
              <a:t>계산에 뛰어남</a:t>
            </a:r>
            <a:endParaRPr lang="en-US" altLang="ko-KR" sz="2000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solidFill>
                  <a:srgbClr val="0000FF"/>
                </a:solidFill>
              </a:rPr>
              <a:t>Numerical computing tools : Linear Algebra routines, Fourier Transforms, …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37397"/>
          <a:stretch/>
        </p:blipFill>
        <p:spPr>
          <a:xfrm>
            <a:off x="2009953" y="4637573"/>
            <a:ext cx="4784594" cy="185811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572219" y="802258"/>
            <a:ext cx="9296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000" i="1" dirty="0" smtClean="0">
                <a:solidFill>
                  <a:srgbClr val="0000FF"/>
                </a:solidFill>
              </a:rPr>
              <a:t>“</a:t>
            </a:r>
            <a:r>
              <a:rPr lang="en-US" altLang="ko-KR" sz="2000" i="1" dirty="0" err="1" smtClean="0">
                <a:solidFill>
                  <a:srgbClr val="0000FF"/>
                </a:solidFill>
              </a:rPr>
              <a:t>NumPy</a:t>
            </a:r>
            <a:r>
              <a:rPr lang="en-US" altLang="ko-KR" sz="2000" i="1" dirty="0" smtClean="0">
                <a:solidFill>
                  <a:srgbClr val="0000FF"/>
                </a:solidFill>
              </a:rPr>
              <a:t>(Numerical Python)</a:t>
            </a:r>
            <a:r>
              <a:rPr lang="ko-KR" altLang="en-US" sz="2000" i="1" dirty="0" smtClean="0">
                <a:solidFill>
                  <a:srgbClr val="0000FF"/>
                </a:solidFill>
              </a:rPr>
              <a:t>는 </a:t>
            </a:r>
            <a:r>
              <a:rPr lang="ko-KR" altLang="en-US" sz="2000" i="1" dirty="0" err="1" smtClean="0">
                <a:solidFill>
                  <a:srgbClr val="0000FF"/>
                </a:solidFill>
              </a:rPr>
              <a:t>파이썬에서</a:t>
            </a:r>
            <a:r>
              <a:rPr lang="ko-KR" altLang="en-US" sz="2000" i="1" dirty="0" smtClean="0">
                <a:solidFill>
                  <a:srgbClr val="0000FF"/>
                </a:solidFill>
              </a:rPr>
              <a:t> </a:t>
            </a:r>
            <a:endParaRPr lang="en-US" altLang="ko-KR" sz="2000" i="1" dirty="0" smtClean="0">
              <a:solidFill>
                <a:srgbClr val="0000FF"/>
              </a:solidFill>
            </a:endParaRPr>
          </a:p>
          <a:p>
            <a:pPr algn="ctr"/>
            <a:r>
              <a:rPr lang="ko-KR" altLang="en-US" sz="2000" i="1" dirty="0" smtClean="0">
                <a:solidFill>
                  <a:srgbClr val="0000FF"/>
                </a:solidFill>
              </a:rPr>
              <a:t>대규모 다차원 배열과 행렬 연산을 고속으로 처리하기 위한 </a:t>
            </a:r>
            <a:endParaRPr lang="en-US" altLang="ko-KR" sz="2000" i="1" dirty="0" smtClean="0">
              <a:solidFill>
                <a:srgbClr val="0000FF"/>
              </a:solidFill>
            </a:endParaRPr>
          </a:p>
          <a:p>
            <a:pPr algn="ctr"/>
            <a:r>
              <a:rPr lang="ko-KR" altLang="en-US" sz="2000" i="1" dirty="0" smtClean="0">
                <a:solidFill>
                  <a:srgbClr val="0000FF"/>
                </a:solidFill>
              </a:rPr>
              <a:t>핵심 과학 계산 라이브러리</a:t>
            </a:r>
            <a:r>
              <a:rPr lang="ko-KR" altLang="en-US" sz="2000" b="0" i="1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입니다</a:t>
            </a:r>
            <a:r>
              <a:rPr lang="en-US" altLang="ko-KR" sz="2000" b="0" i="1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20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903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7132"/>
          </a:xfrm>
        </p:spPr>
        <p:txBody>
          <a:bodyPr anchor="t">
            <a:normAutofit/>
          </a:bodyPr>
          <a:lstStyle/>
          <a:p>
            <a:r>
              <a:rPr lang="en-US" altLang="ko-KR" sz="2400" dirty="0" err="1" smtClean="0"/>
              <a:t>QuTiP</a:t>
            </a:r>
            <a:r>
              <a:rPr lang="en-US" altLang="ko-KR" sz="2400" dirty="0" smtClean="0"/>
              <a:t> : Quantum Toolbox in Python</a:t>
            </a:r>
            <a:endParaRPr lang="ko-KR" altLang="en-US" sz="2400" dirty="0"/>
          </a:p>
        </p:txBody>
      </p:sp>
      <p:sp>
        <p:nvSpPr>
          <p:cNvPr id="2" name="직사각형 1"/>
          <p:cNvSpPr/>
          <p:nvPr/>
        </p:nvSpPr>
        <p:spPr>
          <a:xfrm>
            <a:off x="838200" y="1422100"/>
            <a:ext cx="10515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QuTiP는</a:t>
            </a:r>
            <a:r>
              <a:rPr lang="ko-KR" altLang="en-US" dirty="0" smtClean="0"/>
              <a:t> 개방형 양자 시스템의 동역학을 시뮬레이션하는 오픈 소스 소프트웨어입니다.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b="1" dirty="0" err="1">
                <a:solidFill>
                  <a:srgbClr val="0000FF"/>
                </a:solidFill>
              </a:rPr>
              <a:t>QuTiP</a:t>
            </a:r>
            <a:r>
              <a:rPr lang="en-US" altLang="ko-KR" dirty="0">
                <a:solidFill>
                  <a:srgbClr val="0000FF"/>
                </a:solidFill>
              </a:rPr>
              <a:t> is open-source software for simulating the dynamics of open quantum systems. 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endParaRPr lang="en-US" altLang="ko-KR" dirty="0"/>
          </a:p>
          <a:p>
            <a:r>
              <a:rPr lang="ko-KR" altLang="en-US" dirty="0" err="1" smtClean="0"/>
              <a:t>QuTiP</a:t>
            </a:r>
            <a:r>
              <a:rPr lang="ko-KR" altLang="en-US" dirty="0" smtClean="0"/>
              <a:t> 라이브러리는 뛰어난 </a:t>
            </a:r>
            <a:r>
              <a:rPr lang="ko-KR" altLang="en-US" dirty="0" err="1" smtClean="0">
                <a:solidFill>
                  <a:srgbClr val="FF0000"/>
                </a:solidFill>
              </a:rPr>
              <a:t>NumPy</a:t>
            </a:r>
            <a:r>
              <a:rPr lang="ko-KR" altLang="en-US" dirty="0" smtClean="0"/>
              <a:t>, Scipy, </a:t>
            </a:r>
            <a:r>
              <a:rPr lang="ko-KR" altLang="en-US" dirty="0" err="1" smtClean="0"/>
              <a:t>Cython</a:t>
            </a:r>
            <a:r>
              <a:rPr lang="ko-KR" altLang="en-US" dirty="0" smtClean="0"/>
              <a:t> 수치 계산 패키지에 의존합니다. 또한 </a:t>
            </a:r>
            <a:r>
              <a:rPr lang="ko-KR" altLang="en-US" dirty="0" err="1" smtClean="0"/>
              <a:t>Matplotlib을</a:t>
            </a:r>
            <a:r>
              <a:rPr lang="ko-KR" altLang="en-US" dirty="0" smtClean="0"/>
              <a:t> 사용하여 그래프 출력을 제공합니다.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QuTiP</a:t>
            </a:r>
            <a:r>
              <a:rPr lang="ko-KR" altLang="en-US" dirty="0" smtClean="0"/>
              <a:t>는 양자 광학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이온 포획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초전도 회로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양자 </a:t>
            </a:r>
            <a:r>
              <a:rPr lang="ko-KR" altLang="en-US" dirty="0" err="1" smtClean="0"/>
              <a:t>나노기계</a:t>
            </a:r>
            <a:r>
              <a:rPr lang="ko-KR" altLang="en-US" dirty="0" smtClean="0"/>
              <a:t> 공진기 등 다양한 물리 응용 분야에서 흔히 발견되는 임의의 시간 의존성을 갖는 해밀토니안을 포함하여 다양한 해밀토니안에 대한 사용자 친화적이고 효율적인 수치 시뮬레이션을 제공하는 것을 목표로 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838200" y="927513"/>
            <a:ext cx="1994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https://qutip.org/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048898" y="5720115"/>
            <a:ext cx="3567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hlinkClick r:id="rId2"/>
              </a:rPr>
              <a:t>https://youtu.be/DUK5mHvy0Bw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 rot="-1020000">
            <a:off x="6551253" y="438605"/>
            <a:ext cx="1851789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800" smtClean="0">
                <a:solidFill>
                  <a:srgbClr val="C00000"/>
                </a:solidFill>
              </a:rPr>
              <a:t>그냥 참고</a:t>
            </a:r>
            <a:r>
              <a:rPr lang="en-US" altLang="ko-KR" sz="2800" dirty="0" smtClean="0">
                <a:solidFill>
                  <a:srgbClr val="C00000"/>
                </a:solidFill>
              </a:rPr>
              <a:t>!</a:t>
            </a:r>
            <a:endParaRPr lang="ko-KR" alt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184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GitHub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22098" y="2130725"/>
            <a:ext cx="38587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hlinkClick r:id="rId2"/>
              </a:rPr>
              <a:t>http://github.com/changkim88/stat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github.com/changkim88/model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51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389</Words>
  <Application>Microsoft Office PowerPoint</Application>
  <PresentationFormat>와이드스크린</PresentationFormat>
  <Paragraphs>91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Arial Unicode MS</vt:lpstr>
      <vt:lpstr>맑은 고딕</vt:lpstr>
      <vt:lpstr>Arial</vt:lpstr>
      <vt:lpstr>Office 테마</vt:lpstr>
      <vt:lpstr>Colab </vt:lpstr>
      <vt:lpstr>Colab 시작! </vt:lpstr>
      <vt:lpstr>Colab 사용은 인터넷을 기반으로 한다. 구글 계정이 필요.</vt:lpstr>
      <vt:lpstr>컴퓨터 구조</vt:lpstr>
      <vt:lpstr>컴퓨터 구조 : Von Neumann 아키텍처</vt:lpstr>
      <vt:lpstr>컴퓨터 Computer 구조</vt:lpstr>
      <vt:lpstr>중앙처리장치 CPU 는 0 과 1 로 이루어진 신호를 인식해 받아 들인다.</vt:lpstr>
      <vt:lpstr>CPU 와 GPU 구조</vt:lpstr>
      <vt:lpstr>ALU 와 CPU</vt:lpstr>
      <vt:lpstr>GPU 와 TPU</vt:lpstr>
      <vt:lpstr>PowerPoint 프레젠테이션</vt:lpstr>
      <vt:lpstr>Memory 메모리</vt:lpstr>
      <vt:lpstr>컴퓨터 구조 : Von Neumann 아키텍처</vt:lpstr>
      <vt:lpstr>Numpy</vt:lpstr>
      <vt:lpstr>NumPy 는 Python 라이브러리 이다.</vt:lpstr>
      <vt:lpstr>QuTiP : Quantum Toolbox in Python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samsung</dc:creator>
  <cp:lastModifiedBy>samsung</cp:lastModifiedBy>
  <cp:revision>60</cp:revision>
  <dcterms:created xsi:type="dcterms:W3CDTF">2026-03-19T06:33:45Z</dcterms:created>
  <dcterms:modified xsi:type="dcterms:W3CDTF">2026-03-19T18:08:11Z</dcterms:modified>
</cp:coreProperties>
</file>